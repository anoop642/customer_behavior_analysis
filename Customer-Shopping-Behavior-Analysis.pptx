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Source Sans 3"/>
      <p:regular r:id="rId201314"/>
    </p:embeddedFont>
    <p:embeddedFont>
      <p:font typeface="Source Sans 3 SemiBold"/>
      <p:regular r:id="rId201315"/>
    </p:embeddedFont>
    <p:embeddedFont>
      <p:font typeface="Source Sans 3 Bold"/>
      <p:regular r:id="rId201316"/>
    </p:embeddedFont>
    <p:embeddedFont>
      <p:font typeface="Source Sans 3 Black"/>
      <p:regular r:id="rId201317"/>
    </p:embeddedFont>
    <p:embeddedFont>
      <p:font typeface="Source Serif 4"/>
      <p:regular r:id="rId201318"/>
    </p:embeddedFont>
    <p:embeddedFont>
      <p:font typeface="Source Serif 4 SemiBold"/>
      <p:regular r:id="rId201319"/>
    </p:embeddedFont>
    <p:embeddedFont>
      <p:font typeface="Source Serif 4 Bold"/>
      <p:regular r:id="rId201320"/>
    </p:embeddedFont>
    <p:embeddedFont>
      <p:font typeface="Source Serif 4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6.png"/><Relationship Id="rId9" Type="http://schemas.openxmlformats.org/officeDocument/2006/relationships/image" Target="../media/image-10-7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373511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Customer Shopping Behavior Analysis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3846016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Analysis of 3,900 purchases to reveal spending patterns, segments, product preferences, and subscription behavior for strategic decisions.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583035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Dataset at a Glance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5269971" y="2468860"/>
            <a:ext cx="3012107" cy="1462881"/>
          </a:xfrm>
          <a:prstGeom prst="roundRect">
            <a:avLst>
              <a:gd name="adj" fmla="val 5727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75746" y="2674640"/>
            <a:ext cx="26005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Rows &amp; Columns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75746" y="3087588"/>
            <a:ext cx="260055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3,900 rows · 18 columns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481503" y="2468860"/>
            <a:ext cx="3012107" cy="1462881"/>
          </a:xfrm>
          <a:prstGeom prst="roundRect">
            <a:avLst>
              <a:gd name="adj" fmla="val 5727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7277" y="2674640"/>
            <a:ext cx="26005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7277" y="3087588"/>
            <a:ext cx="26005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Demographics, purchase details, behavior, shipping, discounts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269971" y="4131171"/>
            <a:ext cx="6223638" cy="1143695"/>
          </a:xfrm>
          <a:prstGeom prst="roundRect">
            <a:avLst>
              <a:gd name="adj" fmla="val 7325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75746" y="4336951"/>
            <a:ext cx="581208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Missing Data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75746" y="4749899"/>
            <a:ext cx="581208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37 missing values in Review Rating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21829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 Preparation &amp; Feature Engineering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931988"/>
            <a:ext cx="6846716" cy="3879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7708" y="2595166"/>
            <a:ext cx="3462152" cy="2553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Loaded with pandas, inspected with df.info() and .describe(). Imputed Review Rating nulls using category medians. Renamed columns to snake_case. Engineered age_group and purchase_frequency_days. Dropped redundant promo_code_used. Exported cleaned table to PostgreSQL.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0656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SQL: Revenue &amp; Demographics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016720"/>
            <a:ext cx="5154484" cy="37102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5476" y="1971873"/>
            <a:ext cx="515448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Male customers generated higher total revenue (157,890) than female customers (75,191).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345476" y="2834580"/>
            <a:ext cx="5154484" cy="1096963"/>
          </a:xfrm>
          <a:prstGeom prst="roundRect">
            <a:avLst>
              <a:gd name="adj" fmla="val 7638"/>
            </a:avLst>
          </a:prstGeom>
          <a:solidFill>
            <a:srgbClr val="F4D4F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900" y="3125192"/>
            <a:ext cx="249330" cy="1994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93656" y="3063875"/>
            <a:ext cx="43068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gender-specific promotions cautiously—look at per-customer averages before reallocating budget.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2250877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Top Products, Ratings &amp; Discount Dependence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3236516"/>
            <a:ext cx="1160037" cy="11600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7453" y="3236516"/>
            <a:ext cx="386368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Top Rated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107453" y="3649464"/>
            <a:ext cx="386368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Gloves (3.86), Sandals (3.84), Boots (3.82), Hat (3.80), Skirt (3.78)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463" y="3236516"/>
            <a:ext cx="1160037" cy="11600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29830" y="3236516"/>
            <a:ext cx="38637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Discount-Dependent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629830" y="3649464"/>
            <a:ext cx="386377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Highest discount rates: Hat 50.00%, Sneakers 49.66%, Coat 49.07%, Sweater 48.17%, Pants 47.37%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235770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Shipping &amp; Spend Insights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411413"/>
            <a:ext cx="5154484" cy="2920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5476" y="2301081"/>
            <a:ext cx="5154484" cy="177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Average purchase by shipping type: Standard $58.46 · Express $60.48.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Subscribers vs Non-subscribers: 1,053 subscribers (avg spend $59.49, total revenue $62,645) vs 2,847 non-subscribers (avg spend $59.87, total revenue $170,436).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345476" y="4300835"/>
            <a:ext cx="5154484" cy="1096963"/>
          </a:xfrm>
          <a:prstGeom prst="roundRect">
            <a:avLst>
              <a:gd name="adj" fmla="val 7638"/>
            </a:avLst>
          </a:prstGeom>
          <a:solidFill>
            <a:srgbClr val="F4D4F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900" y="4591447"/>
            <a:ext cx="249330" cy="1994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93656" y="4530130"/>
            <a:ext cx="43068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Subscription uptake is moderate—opportunity to improve ARPU through benefits.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876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Customer Segmentation &amp; Loyalty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996" y="1698923"/>
            <a:ext cx="5076797" cy="43459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2887" y="3008948"/>
            <a:ext cx="1842540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spc="-29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Loyal • 3,116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53544" y="2861019"/>
            <a:ext cx="1705492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spc="-29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Returning • 701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809500" y="4897218"/>
            <a:ext cx="1479253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spc="-29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New • 83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037708" y="2550418"/>
            <a:ext cx="3462152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Segments: Loyal 3,116; Returning 701; New 83. Repeat buyers (&gt;5 purchases): non-subscribers 2,518 vs subscribers 958.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037708" y="3732312"/>
            <a:ext cx="3462152" cy="1416149"/>
          </a:xfrm>
          <a:prstGeom prst="roundRect">
            <a:avLst>
              <a:gd name="adj" fmla="val 5916"/>
            </a:avLst>
          </a:prstGeom>
          <a:solidFill>
            <a:srgbClr val="F4D4F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7133" y="4022923"/>
            <a:ext cx="249330" cy="1994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5888" y="3961606"/>
            <a:ext cx="2614547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Prioritize moving Returning customers into Loyal via targeted rewards.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3480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Revenue &amp; Sales by Category &amp; Age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744960"/>
            <a:ext cx="5154484" cy="371028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476" y="1744960"/>
            <a:ext cx="5154484" cy="37102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8086" y="5903913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Clothing drives the largest revenue. Young Adults contribute the most revenue among age groups.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2561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Dashboard Snapshot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035770"/>
            <a:ext cx="6846716" cy="36722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7708" y="2665016"/>
            <a:ext cx="3462152" cy="2413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metrics from Power BI: Number of Customers 3.9K · Avg Purchase $59.76 · Avg Rating 3.75. Subscription split: 27% Yes · 73% No.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Charts: revenue &amp; sales by category, revenue &amp; sales by age group, subscription donut, key KPIs.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600373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Business Recommendations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9971" y="1486198"/>
            <a:ext cx="3012107" cy="18201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96393" y="1711027"/>
            <a:ext cx="246086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Boost Subscriptions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5596393" y="2123976"/>
            <a:ext cx="2460861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Promote exclusive benefits to increase subscriber base and lifetime value.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1503" y="1486198"/>
            <a:ext cx="3012107" cy="18201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07924" y="1711027"/>
            <a:ext cx="246086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Loyalty Programs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8807924" y="2123976"/>
            <a:ext cx="2460861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Reward repeat buyers to drive more customers into the Loyal segment.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9971" y="3505795"/>
            <a:ext cx="3012107" cy="27518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96393" y="3730625"/>
            <a:ext cx="2460861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Review Discount Policy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5596393" y="4436864"/>
            <a:ext cx="2460861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Balance short-term sales from discounts with margin protection—target discount-dependent items carefully.</a:t>
            </a:r>
            <a:endParaRPr lang="en-US" sz="15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81503" y="3505795"/>
            <a:ext cx="3012107" cy="27518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807924" y="3730625"/>
            <a:ext cx="2460861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Product Positioning &amp; Targeting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8807924" y="4436864"/>
            <a:ext cx="2460861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Highlight top-rated and best-selling items in campaigns and focus marketing on high-revenue age groups and express-shipping users.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2026-09-10T11:30:47Z</dcterms:created>
  <dcterms:modified xsi:type="dcterms:W3CDTF">2026-09-10T11:30:47Z</dcterms:modified>
</cp:coreProperties>
</file>